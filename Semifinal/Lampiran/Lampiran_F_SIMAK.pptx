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Profil dan Nilai Jual SIMAK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Dari masalah yang terukur, ke solusi yang terverifikasi, ke jaminan bagi ULD dan mahasiswa tunanetra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Sumber angka: PDDikti via detikEdu (Juni 2025); audit awal penulis (28 PDF, 18 kampus; bukan sampel acak); uji kelayakan awal penulis (3 dokumen contoh).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71600"/>
            <a:ext cx="3520440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MASALAH YANG TERBUKTI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3520440" cy="10972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82296" cy="109728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90195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55BB"/>
                </a:solidFill>
                <a:latin typeface="Times New Roman"/>
                <a:ea typeface="Times New Roman"/>
                <a:cs typeface="Times New Roman"/>
              </a:rPr>
              <a:t>1.727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774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 tunanetra tercatat, kelompok terbesar dari 3.128 mahasiswa disabilitas di 282 perguruan tinggi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35808"/>
            <a:ext cx="3520440" cy="10972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57200" y="3035808"/>
            <a:ext cx="82296" cy="109728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55BB"/>
                </a:solidFill>
                <a:latin typeface="Times New Roman"/>
                <a:ea typeface="Times New Roman"/>
                <a:cs typeface="Times New Roman"/>
              </a:rPr>
              <a:t>0 dari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5844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PDF materi kuliah berbahasa Indonesia yang lulus PDF/UA-1 (audit awal)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42816"/>
            <a:ext cx="3520440" cy="10972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7200" y="4242816"/>
            <a:ext cx="82296" cy="109728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31596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55BB"/>
                </a:solidFill>
                <a:latin typeface="Times New Roman"/>
                <a:ea typeface="Times New Roman"/>
                <a:cs typeface="Times New Roman"/>
              </a:rPr>
              <a:t>2,6%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791456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elemen gambar bertag yang memiliki teks alternatif (29 dari 1.111)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371600"/>
            <a:ext cx="3794760" cy="3474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SOLUSI: SIMAK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828800"/>
            <a:ext cx="379476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C5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297680" y="2148840"/>
            <a:ext cx="457200" cy="457200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874519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Perbaiki struktur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17627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PDF apa adanya menjadi HTML aksesibel dan PDF bertag (PDF/UA-1) tanpa berkas sumber.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035808"/>
            <a:ext cx="379476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C5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297680" y="3355848"/>
            <a:ext cx="457200" cy="457200"/>
          </a:xfrm>
          <a:prstGeom prst="ellipse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081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Sampaikan isi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3832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grafik dari tabel data dengan statistik yang dihitung kode; rumus dibacakan MathCAT; mode dengar.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242816"/>
            <a:ext cx="379476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C5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297680" y="4562856"/>
            <a:ext cx="457200" cy="457200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28853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Jaga kepercayaan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59028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Gerbang fail-closed: keluaran yang tidak dapat diverifikasi ditahan untuk ditinjau ULD.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371600"/>
            <a:ext cx="3502152" cy="3474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NILAI JUAL UNIK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828800"/>
            <a:ext cx="3502152" cy="82296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39327" y="1874519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Tanpa berkas sumber</a:t>
            </a:r>
          </a:p>
          <a:p>
            <a:pPr algn="l"/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Dosen tidak perlu mengubah alur kerja.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734056"/>
            <a:ext cx="3502152" cy="82296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39327" y="2779776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Terverifikasi atau ditandai</a:t>
            </a:r>
          </a:p>
          <a:p>
            <a:pPr algn="l"/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Tidak ada deskripsi keliru terbit tanpa penanda.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639312"/>
            <a:ext cx="3502152" cy="82296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39327" y="3685032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ULD tetap memegang kendali</a:t>
            </a:r>
          </a:p>
          <a:p>
            <a:pPr algn="l"/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Terima, ubah, atau tolak per elemen.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544568"/>
            <a:ext cx="3502152" cy="82296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39327" y="459028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Berjalan di CPU biasa</a:t>
            </a:r>
          </a:p>
          <a:p>
            <a:pPr algn="l"/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21 halaman dalam 4,6 detik (uji awal).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13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Status bukti hari ini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779008"/>
            <a:ext cx="2697480" cy="384048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Terukur: </a:t>
            </a:r>
            <a:r>
              <a:rPr sz="11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kondisi awal (audit 28 PDF)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5779008"/>
            <a:ext cx="4526280" cy="384048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Teruji awal: </a:t>
            </a:r>
            <a:r>
              <a:rPr sz="11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perakitan tag lulus veraPDF pada 2 dari 3 dokumen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5779008"/>
            <a:ext cx="3913632" cy="384048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Belum terukur: </a:t>
            </a:r>
            <a:r>
              <a:rPr sz="11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akurasi grafik dan rumus, dampak belajar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Pohon Masalah: dari Tujuan ke Akar Masalah dan Buktinya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Bukti: audit awal penulis; uji kelayakan awal (Tabel VIII naskah); CharXiv (Wang dkk., 2024); Jung dkk. (2022).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97280"/>
            <a:ext cx="1965960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Tujuan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097280"/>
            <a:ext cx="4206240" cy="3474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Masalah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097280"/>
            <a:ext cx="2926080" cy="3474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Akar Masalah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1097280"/>
            <a:ext cx="1627632" cy="3474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Bukti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536192"/>
            <a:ext cx="19659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0B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 rIns="137160" bIns="91440"/>
          <a:lstStyle/>
          <a:p>
            <a:pPr algn="ctr"/>
            <a:r>
              <a:rPr sz="1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Bagaimana SIMAK mengubah PDF materi kuliah yang tidak aksesibel menjadi materi yang dapat diakses sekaligus mengurangi beban remediasi ULD?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36192"/>
            <a:ext cx="1572768" cy="1389888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Materi Pembelajaran Tidak Aksesibel</a:t>
            </a:r>
          </a:p>
        </p:txBody>
      </p:sp>
      <p:sp>
        <p:nvSpPr>
          <p:cNvPr id="20" name="Oval 19"/>
          <p:cNvSpPr/>
          <p:nvPr/>
        </p:nvSpPr>
        <p:spPr>
          <a:xfrm>
            <a:off x="2423160" y="1399032"/>
            <a:ext cx="365760" cy="36576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178808" y="1865376"/>
            <a:ext cx="164592" cy="36576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343400" y="1536192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Teks alternatif tidak tersedia</a:t>
            </a:r>
          </a:p>
        </p:txBody>
      </p:sp>
      <p:sp>
        <p:nvSpPr>
          <p:cNvPr id="23" name="Oval 22"/>
          <p:cNvSpPr/>
          <p:nvPr/>
        </p:nvSpPr>
        <p:spPr>
          <a:xfrm>
            <a:off x="4187952" y="1399032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186537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40880" y="1536192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Grafik, gambar, dan elemen visual tidak memiliki deskripsi yang dapat dibaca pembaca layar.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1536192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2,6% Figure beralt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78808" y="2231136"/>
            <a:ext cx="164592" cy="36576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343400" y="2267712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Struktur dokumen tidak tepat</a:t>
            </a:r>
          </a:p>
        </p:txBody>
      </p:sp>
      <p:sp>
        <p:nvSpPr>
          <p:cNvPr id="29" name="Oval 28"/>
          <p:cNvSpPr/>
          <p:nvPr/>
        </p:nvSpPr>
        <p:spPr>
          <a:xfrm>
            <a:off x="4187952" y="2130552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12280" y="259689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40880" y="2267712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Urutan baca, judul, bahasa dokumen, dan struktur tabel belum konsisten.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2267712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0 dari 28 lulus PDF/UA‑1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423160" y="2231136"/>
            <a:ext cx="182880" cy="1563624"/>
          </a:xfrm>
          <a:prstGeom prst="line">
            <a:avLst/>
          </a:prstGeom>
          <a:ln w="15875">
            <a:solidFill>
              <a:srgbClr val="0B2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606040" y="3090672"/>
            <a:ext cx="1572768" cy="1389888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Informasi Semantik Sulit Diakses</a:t>
            </a:r>
          </a:p>
        </p:txBody>
      </p:sp>
      <p:sp>
        <p:nvSpPr>
          <p:cNvPr id="35" name="Oval 34"/>
          <p:cNvSpPr/>
          <p:nvPr/>
        </p:nvSpPr>
        <p:spPr>
          <a:xfrm>
            <a:off x="2423160" y="2953511"/>
            <a:ext cx="365760" cy="36576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178808" y="3419856"/>
            <a:ext cx="164592" cy="365759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343400" y="3090672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Grafik sulit dipahami pembaca layar</a:t>
            </a:r>
          </a:p>
        </p:txBody>
      </p:sp>
      <p:sp>
        <p:nvSpPr>
          <p:cNvPr id="38" name="Oval 37"/>
          <p:cNvSpPr/>
          <p:nvPr/>
        </p:nvSpPr>
        <p:spPr>
          <a:xfrm>
            <a:off x="4187952" y="2953512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12280" y="341985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040880" y="3090672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Informasi grafik tidak cukup direpresentasikan hanya melalui gambar; pengguna butuh rujukan ke data.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3090672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22 wawancara (Jung dkk.)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78808" y="3785615"/>
            <a:ext cx="164592" cy="365761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343400" y="3822191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Rumus dan tabel tidak ramah teknologi bantu</a:t>
            </a:r>
          </a:p>
        </p:txBody>
      </p:sp>
      <p:sp>
        <p:nvSpPr>
          <p:cNvPr id="44" name="Oval 43"/>
          <p:cNvSpPr/>
          <p:nvPr/>
        </p:nvSpPr>
        <p:spPr>
          <a:xfrm>
            <a:off x="4187952" y="3685031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2b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12280" y="415137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040880" y="3822191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Rumus memerlukan pembacaan khusus; tabel memerlukan struktur judul kolom yang benar.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4120" y="3822191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1 dari 13 dokumen bertabel punya sel judul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2423160" y="3785615"/>
            <a:ext cx="182880" cy="9145"/>
          </a:xfrm>
          <a:prstGeom prst="line">
            <a:avLst/>
          </a:prstGeom>
          <a:ln w="15875">
            <a:solidFill>
              <a:srgbClr val="0B2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606040" y="4645152"/>
            <a:ext cx="1572768" cy="1389888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Risiko Kesalahan Keluaran AI</a:t>
            </a:r>
          </a:p>
        </p:txBody>
      </p:sp>
      <p:sp>
        <p:nvSpPr>
          <p:cNvPr id="50" name="Oval 49"/>
          <p:cNvSpPr/>
          <p:nvPr/>
        </p:nvSpPr>
        <p:spPr>
          <a:xfrm>
            <a:off x="2423160" y="4507992"/>
            <a:ext cx="365760" cy="36576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178808" y="4974336"/>
            <a:ext cx="164592" cy="36576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343400" y="4645152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AI salah menginterpretasikan konten</a:t>
            </a:r>
          </a:p>
        </p:txBody>
      </p:sp>
      <p:sp>
        <p:nvSpPr>
          <p:cNvPr id="53" name="Oval 52"/>
          <p:cNvSpPr/>
          <p:nvPr/>
        </p:nvSpPr>
        <p:spPr>
          <a:xfrm>
            <a:off x="4187952" y="4507992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12280" y="497433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040880" y="4645152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AI dapat menghasilkan deskripsi, angka, atau pembacaan rumus yang tidak sesuai sumber.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04120" y="4645152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GPT-4o: 47,1% pada grafik ilmiah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8808" y="5340096"/>
            <a:ext cx="164592" cy="36576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343400" y="5376672"/>
            <a:ext cx="2468880" cy="65836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36576" rIns="73152" bIns="36576"/>
          <a:lstStyle/>
          <a:p>
            <a:pPr algn="ctr"/>
            <a:r>
              <a:rPr sz="12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Lulus validasi teknis belum menjamin kebenaran isi</a:t>
            </a:r>
          </a:p>
        </p:txBody>
      </p:sp>
      <p:sp>
        <p:nvSpPr>
          <p:cNvPr id="59" name="Oval 58"/>
          <p:cNvSpPr/>
          <p:nvPr/>
        </p:nvSpPr>
        <p:spPr>
          <a:xfrm>
            <a:off x="4187952" y="5239512"/>
            <a:ext cx="310896" cy="310896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12280" y="5705856"/>
            <a:ext cx="228600" cy="0"/>
          </a:xfrm>
          <a:prstGeom prst="line">
            <a:avLst/>
          </a:prstGeom>
          <a:ln w="15875">
            <a:solidFill>
              <a:srgbClr val="1C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040880" y="5376672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Validator memeriksa struktur, bukan apakah teks alternatif benar secara makna.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04120" y="5376672"/>
            <a:ext cx="1627632" cy="658368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/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Teks “image N” lolos veraPDF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423160" y="3794760"/>
            <a:ext cx="182880" cy="1545336"/>
          </a:xfrm>
          <a:prstGeom prst="line">
            <a:avLst/>
          </a:prstGeom>
          <a:ln w="15875">
            <a:solidFill>
              <a:srgbClr val="0B2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Value Proposition Canvas: Kesesuaian Solusi dengan Pengguna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Segmen utama: staf ULD (operator dan peninjau). Penerima manfaat langsung: mahasiswa tunanetra.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Isi disusun dari temuan Bab I–II naskah: Day &amp; Fleischmann (2026), Mitra Netra, Tempo.co, Raees dkk. (2026), audit awal penulis.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3258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55BB"/>
                </a:solidFill>
                <a:latin typeface="Times New Roman"/>
                <a:ea typeface="Times New Roman"/>
                <a:cs typeface="Times New Roman"/>
              </a:rPr>
              <a:t>PETA NILAI SIMAK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3258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PROFIL PELANGGAN (ULD dan mahasiswa tunanetra)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916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C5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1691640"/>
            <a:ext cx="5394960" cy="310896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Produk dan layanan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020824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Remediasi PDF menjadi HTML aksesibel dan PDF bertag (PDF/UA-1)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grafik berbasis tabel data; pembacaan rumus MathCAT; mode dengar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Gerbang verifikasi fail-closed dan antarmuka tinjauan ULD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16916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48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336792" y="1691640"/>
            <a:ext cx="5394960" cy="310896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Tugas pelanggan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020824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ULD: menyediakan materi aksesibel tepat waktu dan mengendalikan keluaran AI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Mahasiswa: membaca materi mandiri dengan pembaca layar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2377440"/>
            <a:ext cx="484632" cy="0"/>
          </a:xfrm>
          <a:prstGeom prst="line">
            <a:avLst/>
          </a:prstGeom>
          <a:ln w="25400">
            <a:solidFill>
              <a:srgbClr val="0B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172968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3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7200" y="3172968"/>
            <a:ext cx="5394960" cy="310896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Pereda masalah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502152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Menerima PDF apa adanya, tanpa berkas sumber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Statistik dihitung kode, klaim diperiksa terhadap data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Elemen yang tidak terverifikasi ditahan, bukan diterbitkan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3172968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336792" y="3172968"/>
            <a:ext cx="5394960" cy="310896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Masalah (pain)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3502152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Produksi manual bertumpu tenaga manusia dan berbiaya tinggi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Grafik, rumus, tabel “diam” atau tak terbaca; risiko AI berhalusinasi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Beban kerja tambahan dan hambatan yang saling bertautan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3858768"/>
            <a:ext cx="484632" cy="0"/>
          </a:xfrm>
          <a:prstGeom prst="line">
            <a:avLst/>
          </a:prstGeom>
          <a:ln w="25400">
            <a:solidFill>
              <a:srgbClr val="0B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4654296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7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57200" y="4654296"/>
            <a:ext cx="5394960" cy="310896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Pencipta manfaat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983480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Penanda per elemen: “dihasilkan otomatis” atau “disetujui ULD”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Laporan veraPDF dan rekaman lengkap tiap elemen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Berjalan di CPU biasa; model VLM dapat diganti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4654296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C9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336792" y="4654296"/>
            <a:ext cx="5394960" cy="310896"/>
          </a:xfrm>
          <a:prstGeom prst="rect">
            <a:avLst/>
          </a:prstGeom>
          <a:solidFill>
            <a:srgbClr val="2C9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Manfaat yang diharapkan (gain)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4983480"/>
            <a:ext cx="5257800" cy="10241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Materi tersedia lebih cepat dengan beban tinjauan terukur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Keputusan akhir tetap di tangan ULD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 dapat menyimak seluruh materi dan tahu status tiap elemen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52160" y="5340096"/>
            <a:ext cx="484632" cy="0"/>
          </a:xfrm>
          <a:prstGeom prst="line">
            <a:avLst/>
          </a:prstGeom>
          <a:ln w="25400">
            <a:solidFill>
              <a:srgbClr val="0B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Skenario Ilustratif: Sebelum dan Sesudah SIMAK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Mahasiswa tunanetra menerima salindia kuliah statistika berformat PDF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Skenario ilustratif yang disusun dari temuan audit awal; contoh deskripsi bukan keluaran sistem yang telah diuji.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71600"/>
            <a:ext cx="5440680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SEBELUM: PDF APA ADANYA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440680" cy="2926080"/>
          </a:xfrm>
          <a:prstGeom prst="rect">
            <a:avLst/>
          </a:prstGeom>
          <a:solidFill>
            <a:srgbClr val="F4F8FE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03503" y="2002535"/>
            <a:ext cx="292608" cy="292608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1874519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Grafik regresi.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Pembaca layar diam; teks alternatif tidak ada (97,4% elemen gambar bertag tanpa teks alternatif).</a:t>
            </a:r>
          </a:p>
        </p:txBody>
      </p:sp>
      <p:sp>
        <p:nvSpPr>
          <p:cNvPr id="19" name="Oval 18"/>
          <p:cNvSpPr/>
          <p:nvPr/>
        </p:nvSpPr>
        <p:spPr>
          <a:xfrm>
            <a:off x="603503" y="2715768"/>
            <a:ext cx="292608" cy="292608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587752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Rumus koefisien korelasi.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Tidak terbaca; tak ada MathML atau teks alternatif.</a:t>
            </a:r>
          </a:p>
        </p:txBody>
      </p:sp>
      <p:sp>
        <p:nvSpPr>
          <p:cNvPr id="21" name="Oval 20"/>
          <p:cNvSpPr/>
          <p:nvPr/>
        </p:nvSpPr>
        <p:spPr>
          <a:xfrm>
            <a:off x="603503" y="3428999"/>
            <a:ext cx="292608" cy="292608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300984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Tabel hasil.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Dibacakan sel demi sel tanpa judul kolom (hanya 1 dari 13 dokumen bertabel memiliki sel judul).</a:t>
            </a:r>
          </a:p>
        </p:txBody>
      </p:sp>
      <p:sp>
        <p:nvSpPr>
          <p:cNvPr id="23" name="Oval 22"/>
          <p:cNvSpPr/>
          <p:nvPr/>
        </p:nvSpPr>
        <p:spPr>
          <a:xfrm>
            <a:off x="603503" y="4142231"/>
            <a:ext cx="292608" cy="292608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14215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Akibatnya.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 meminta rekan menjelaskan atau menunggu ULD menyalin ulang secara manual.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9320" y="2788920"/>
            <a:ext cx="548640" cy="914400"/>
          </a:xfrm>
          <a:prstGeom prst="rightArrow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29400" y="1371600"/>
            <a:ext cx="5102352" cy="3474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SESUDAH: KELUARAN SIMAK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1783080"/>
            <a:ext cx="5102352" cy="2926080"/>
          </a:xfrm>
          <a:prstGeom prst="rect">
            <a:avLst/>
          </a:prstGeom>
          <a:solidFill>
            <a:srgbClr val="DCEFF3"/>
          </a:solidFill>
          <a:ln w="9525">
            <a:solidFill>
              <a:srgbClr val="2483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775704" y="2002535"/>
            <a:ext cx="292608" cy="292608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874519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Grafik.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level 1–3 dari tabel data; statistik dihitung kode; klaim diperiksa gerbang.</a:t>
            </a:r>
          </a:p>
        </p:txBody>
      </p:sp>
      <p:sp>
        <p:nvSpPr>
          <p:cNvPr id="30" name="Oval 29"/>
          <p:cNvSpPr/>
          <p:nvPr/>
        </p:nvSpPr>
        <p:spPr>
          <a:xfrm>
            <a:off x="6775704" y="2715768"/>
            <a:ext cx="292608" cy="292608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587752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Rumus.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MathML diucapkan MathCAT; bila belum pasti, ditahan untuk ULD.</a:t>
            </a:r>
          </a:p>
        </p:txBody>
      </p:sp>
      <p:sp>
        <p:nvSpPr>
          <p:cNvPr id="32" name="Oval 31"/>
          <p:cNvSpPr/>
          <p:nvPr/>
        </p:nvSpPr>
        <p:spPr>
          <a:xfrm>
            <a:off x="6775704" y="3428999"/>
            <a:ext cx="292608" cy="292608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300984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Tabel.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Baris judul menjadi sel TH; dibaca dengan judul kolom.</a:t>
            </a:r>
          </a:p>
        </p:txBody>
      </p:sp>
      <p:sp>
        <p:nvSpPr>
          <p:cNvPr id="34" name="Oval 33"/>
          <p:cNvSpPr/>
          <p:nvPr/>
        </p:nvSpPr>
        <p:spPr>
          <a:xfrm>
            <a:off x="6775704" y="4142231"/>
            <a:ext cx="292608" cy="292608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014215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Status.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Tiap elemen berpenanda “dihasilkan otomatis” atau “menunggu ULD”.</a:t>
            </a:r>
          </a:p>
        </p:txBody>
      </p:sp>
      <p:sp>
        <p:nvSpPr>
          <p:cNvPr id="36" name="Chevron 35"/>
          <p:cNvSpPr/>
          <p:nvPr/>
        </p:nvSpPr>
        <p:spPr>
          <a:xfrm>
            <a:off x="457200" y="4892040"/>
            <a:ext cx="2514600" cy="685800"/>
          </a:xfrm>
          <a:prstGeom prst="chevron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" rIns="137160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Unggah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834640" y="4892040"/>
            <a:ext cx="2514600" cy="685800"/>
          </a:xfrm>
          <a:prstGeom prst="chevron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" rIns="137160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Analisis dan perakitan</a:t>
            </a:r>
          </a:p>
        </p:txBody>
      </p:sp>
      <p:sp>
        <p:nvSpPr>
          <p:cNvPr id="38" name="Chevron 37"/>
          <p:cNvSpPr/>
          <p:nvPr/>
        </p:nvSpPr>
        <p:spPr>
          <a:xfrm>
            <a:off x="5212080" y="4892040"/>
            <a:ext cx="2514600" cy="685800"/>
          </a:xfrm>
          <a:prstGeom prst="chevron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" rIns="137160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Gerbang verifikasi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4873752"/>
            <a:ext cx="2011680" cy="329184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Lolos: terbit otomatis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257800"/>
            <a:ext cx="2011680" cy="329184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Ditahan: antrean ULD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543800" y="5038344"/>
            <a:ext cx="137160" cy="192024"/>
          </a:xfrm>
          <a:prstGeom prst="line">
            <a:avLst/>
          </a:prstGeom>
          <a:ln w="19050">
            <a:solidFill>
              <a:srgbClr val="0B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43800" y="5230368"/>
            <a:ext cx="137160" cy="192024"/>
          </a:xfrm>
          <a:prstGeom prst="line">
            <a:avLst/>
          </a:prstGeom>
          <a:ln w="19050">
            <a:solidFill>
              <a:srgbClr val="0B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829800" y="4873752"/>
            <a:ext cx="1901952" cy="713232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Uji awal: </a:t>
            </a:r>
            <a:r>
              <a:rPr sz="11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2 dari 3 dokumen contoh lulus veraPDF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Ilustrasi deskripsi grafik: </a:t>
            </a:r>
            <a:r>
              <a:rPr sz="1200" b="0" i="1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“Diagram pencar jam belajar terhadap nilai ujian. Nilai tertinggi 92 pada 8 jam; kemiringan garis regresi positif; tren naik.” </a:t>
            </a:r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(angka ilustratif)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Analisis Kompetitor: Matriks Pembanding Fitur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Sel diisi hanya dengan yang dilaporkan sumber (Tabel IV naskah) atau diamati langsung penulis; n/r = tidak dilaporkan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SIMAK: kolom rancangan, kinerja belum terbukti. Sumber: PAVE 2.0, iTagPDF, OpenDataLoader, Adobe/AbilityNet, SEA-Vision; uji awal penulis.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71600"/>
            <a:ext cx="2743200" cy="71323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Remediasi manual (ULD, lembaga)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Adobe Auto-Tag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OpenData-Loader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8856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iTagPDF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PAVE 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1216152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VLM langsung (tanpa gerbang)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97312" y="1371600"/>
            <a:ext cx="1216152" cy="71323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SIMAK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84832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Menerima PDF tanpa berkas sumber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08483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08483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208483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8856" y="2084832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Tidak: perlu sumber LaTeX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208483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 (PDF ilmiah)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08483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97312" y="2084832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15184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Perakitan tag dan urutan baca otomatis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615184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Tidak: manual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2615184"/>
            <a:ext cx="1216152" cy="530352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Ya; perlu koreksi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2615184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 (gratis)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8856" y="2615184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8" y="2615184"/>
            <a:ext cx="1216152" cy="530352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Sebagian: dipandu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615184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97312" y="2615184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45536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Deskripsi gambar atau grafik oleh 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145536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16552" y="3145536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3145536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 (mode hybrid)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48856" y="3145536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 (agen LLM)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145536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145536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97312" y="3145536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75887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Deskripsi diperiksa terhadap data grafik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675887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16552" y="3675887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32704" y="3675887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48856" y="3675887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5008" y="3675887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3675887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97312" y="3675887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Ya: tingkat klaim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06240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Rumus dibacakan (MathML ke ucapan)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4206240"/>
            <a:ext cx="1216152" cy="530352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Bergantung staf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16552" y="4206240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32704" y="4206240"/>
            <a:ext cx="1216152" cy="530352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Sebagian: ke LaTeX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48856" y="4206240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4206240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81160" y="4206240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97312" y="4206240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Ya: MathCAT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736592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Peninjau ULD dan status per elemen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736592"/>
            <a:ext cx="1216152" cy="530352"/>
          </a:xfrm>
          <a:prstGeom prst="rect">
            <a:avLst/>
          </a:prstGeom>
          <a:solidFill>
            <a:srgbClr val="0B2E6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Ya: oleh manusia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16552" y="4736592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32704" y="4736592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48856" y="4736592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65008" y="4736592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81160" y="4736592"/>
            <a:ext cx="12161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97312" y="4736592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266944"/>
            <a:ext cx="2743200" cy="530352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rIns="45720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Diuji pada materi berbahasa Indonesia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5266944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16552" y="5266944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2704" y="5266944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48856" y="5266944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65008" y="5266944"/>
            <a:ext cx="1216152" cy="53035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n/r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81160" y="5266944"/>
            <a:ext cx="1216152" cy="530352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Akurasi menurun (SEA-Vision)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97312" y="5266944"/>
            <a:ext cx="1216152" cy="530352"/>
          </a:xfrm>
          <a:prstGeom prst="rect">
            <a:avLst/>
          </a:prstGeom>
          <a:solidFill>
            <a:srgbClr val="24839D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Direncanakan (G6)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07024"/>
            <a:ext cx="11274552" cy="5029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Nilai unik: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kombinasi masukan PDF tanpa sumber, deskripsi yang diperiksa terhadap data, dan peninjau ULD belum dilaporkan oleh sumber mana pun yang ditinjau. SIMAK tidak mengklaim akurasi lebih tinggi daripada alat-alat di atas.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Segmentasi, Target, dan Posisi (STP)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Posisi pada peta adalah penilaian kualitatif penulis dari Tabel IV naskah, bukan hasil pengukuran.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97280"/>
            <a:ext cx="5486400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SEGMENTASI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08760"/>
            <a:ext cx="1143000" cy="54864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Institusi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1508760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Universitas, fakultas, dan unit yang melayani mahasiswa disabilitas (282 perguruan tinggi mencatat mahasiswa disabilitas).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12264"/>
            <a:ext cx="1143000" cy="54864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Wilayah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112264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Indonesia; fokus awal pada materi kuliah berbahasa Indonesia.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15768"/>
            <a:ext cx="1143000" cy="54864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Perilaku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715768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Berorientasi inklusivitas, digitalisasi, dan accessibility-by-design; ingin mengurangi remediasi manual; terbuka pada alur kerja berbantuan AI.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19272"/>
            <a:ext cx="1143000" cy="54864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Kebutuhan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3319272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Banyak materi PDF dan memiliki ULD; butuh teks alternatif, urutan baca, tabel, grafik, rumus, dan metadata bahasa.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097280"/>
            <a:ext cx="5486400" cy="3474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1508760"/>
            <a:ext cx="1143000" cy="54864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Prioritas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88352" y="1508760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Tinggi. </a:t>
            </a:r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Perguruan tinggi dengan ULD dan mahasiswa pengguna pembaca layar.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112264"/>
            <a:ext cx="1143000" cy="54864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Prioritas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112264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Tinggi. </a:t>
            </a:r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Institusi dengan banyak materi kuliah berbasis PDF.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2715768"/>
            <a:ext cx="1143000" cy="548640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Prioritas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8352" y="2715768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Menengah. </a:t>
            </a:r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Institusi yang terbuka terhadap alur kerja berbantuan AI.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319272"/>
            <a:ext cx="1143000" cy="548640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Sekunder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88352" y="3319272"/>
            <a:ext cx="4343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Hipotesis. </a:t>
            </a:r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 pendengar (42,6% pendengar podcast mingguan); manfaat belum diuji.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3360"/>
            <a:ext cx="5486400" cy="3474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PETA POSISI: OTOMASI DAN VERIFIKASI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462272"/>
            <a:ext cx="4663440" cy="1481328"/>
          </a:xfrm>
          <a:prstGeom prst="rect">
            <a:avLst/>
          </a:prstGeom>
          <a:solidFill>
            <a:srgbClr val="F4F8FE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429000" y="4462272"/>
            <a:ext cx="2331720" cy="740664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3429000" y="4462272"/>
            <a:ext cx="0" cy="1481328"/>
          </a:xfrm>
          <a:prstGeom prst="line">
            <a:avLst/>
          </a:prstGeom>
          <a:ln w="12700">
            <a:solidFill>
              <a:srgbClr val="4A5D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280" y="5202936"/>
            <a:ext cx="4663440" cy="0"/>
          </a:xfrm>
          <a:prstGeom prst="line">
            <a:avLst/>
          </a:prstGeom>
          <a:ln w="12700">
            <a:solidFill>
              <a:srgbClr val="4A5D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97280" y="595274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Otomasi: rendah  →  tinggi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62272"/>
            <a:ext cx="64008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Verifikasi tinggi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0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rendah</a:t>
            </a:r>
          </a:p>
        </p:txBody>
      </p:sp>
      <p:sp>
        <p:nvSpPr>
          <p:cNvPr id="40" name="Oval 39"/>
          <p:cNvSpPr/>
          <p:nvPr/>
        </p:nvSpPr>
        <p:spPr>
          <a:xfrm>
            <a:off x="1490472" y="4685385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655064" y="464880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Manual</a:t>
            </a:r>
          </a:p>
        </p:txBody>
      </p:sp>
      <p:sp>
        <p:nvSpPr>
          <p:cNvPr id="42" name="Oval 41"/>
          <p:cNvSpPr/>
          <p:nvPr/>
        </p:nvSpPr>
        <p:spPr>
          <a:xfrm>
            <a:off x="2423159" y="5307543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87751" y="527096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PAVE 2.0</a:t>
            </a:r>
          </a:p>
        </p:txBody>
      </p:sp>
      <p:sp>
        <p:nvSpPr>
          <p:cNvPr id="44" name="Oval 43"/>
          <p:cNvSpPr/>
          <p:nvPr/>
        </p:nvSpPr>
        <p:spPr>
          <a:xfrm>
            <a:off x="3822191" y="5663062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986783" y="562648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Adobe</a:t>
            </a:r>
          </a:p>
        </p:txBody>
      </p:sp>
      <p:sp>
        <p:nvSpPr>
          <p:cNvPr id="46" name="Oval 45"/>
          <p:cNvSpPr/>
          <p:nvPr/>
        </p:nvSpPr>
        <p:spPr>
          <a:xfrm>
            <a:off x="3728923" y="5396423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93515" y="535984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OpenDataLoader</a:t>
            </a:r>
          </a:p>
        </p:txBody>
      </p:sp>
      <p:sp>
        <p:nvSpPr>
          <p:cNvPr id="48" name="Oval 47"/>
          <p:cNvSpPr/>
          <p:nvPr/>
        </p:nvSpPr>
        <p:spPr>
          <a:xfrm>
            <a:off x="4754880" y="5366796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919472" y="533022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iTagPDF</a:t>
            </a:r>
          </a:p>
        </p:txBody>
      </p:sp>
      <p:sp>
        <p:nvSpPr>
          <p:cNvPr id="50" name="Oval 49"/>
          <p:cNvSpPr/>
          <p:nvPr/>
        </p:nvSpPr>
        <p:spPr>
          <a:xfrm>
            <a:off x="5314492" y="5722315"/>
            <a:ext cx="146304" cy="146304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107484" y="568573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VLM langsung</a:t>
            </a:r>
          </a:p>
        </p:txBody>
      </p:sp>
      <p:sp>
        <p:nvSpPr>
          <p:cNvPr id="52" name="Oval 51"/>
          <p:cNvSpPr/>
          <p:nvPr/>
        </p:nvSpPr>
        <p:spPr>
          <a:xfrm>
            <a:off x="4952390" y="4543836"/>
            <a:ext cx="310896" cy="310896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964838" y="4589556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SIMAK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5352" y="4023360"/>
            <a:ext cx="5486400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PERNYATAAN POSISI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5352" y="4416552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B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l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Bagi ULD perguruan tinggi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yang harus menyediakan materi aksesibel bagi mahasiswa tunanetra, </a:t>
            </a:r>
            <a:r>
              <a:rPr sz="12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SIMAK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adalah sistem remediasi PDF berbahasa Indonesia yang menerima PDF apa adanya dan menahan setiap keluaran yang tidak dapat diverifikasi untuk ditinjau ULD.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Berbeda dari auto-tag dan VLM langsung,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SIMAK hanya menerbitkan otomatis deskripsi yang lolos pemeriksaan terhadap data sumbernya.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Model Bisnis dan Keberlanjutan (Business Model Canvas Ringkas)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Tahap penelitian: sumber pendapatan dan saluran bersifat hipotesis yang belum diuji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Tidak ada angka biaya atau pendapatan yang diklaim; biaya VLM per gambar diukur pada uji penentu 1–3 Oktober 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71600"/>
            <a:ext cx="2194560" cy="36118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2064" y="1408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Mitra utama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1737360"/>
            <a:ext cx="2121408" cy="3209544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 perguruan tinggi mitra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Yayasan Mitra Netra dan komunitas pengguna pembaca layar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Penyedia VLM atau komunitas model terbuka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Komunitas kode terbuka (OpenDataLoader, veraPDF, MathCAT)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24912" y="1371600"/>
            <a:ext cx="2194560" cy="1769364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79776" y="1408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Aktivitas utama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1737360"/>
            <a:ext cx="2121408" cy="1367028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Mengembangkan pipeline dan gerbang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Mengevaluasi tujuh gerbang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Menyempurnakan aturan bahasa Indonesia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912" y="3214116"/>
            <a:ext cx="2194560" cy="1769364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779776" y="32506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Sumber daya utama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579876"/>
            <a:ext cx="2121408" cy="1367028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Kode, data audit, dan protokol evaluasi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Akses VLM (API atau lokal)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Tim peneliti dan ULD mitra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2624" y="1371600"/>
            <a:ext cx="2194560" cy="3611880"/>
          </a:xfrm>
          <a:prstGeom prst="rect">
            <a:avLst/>
          </a:prstGeom>
          <a:solidFill>
            <a:srgbClr val="DCEFF3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47488" y="1408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Proposisi nilai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737360"/>
            <a:ext cx="2121408" cy="3209544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PDF apa adanya menjadi materi aksesibel dengan status tiap elemen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grafik berbasis data dan terverifikasi, atau ditandai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 memegang kendali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Berbahasa Indonesia; berjalan di CPU biasa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0336" y="1371600"/>
            <a:ext cx="2194560" cy="1769364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199" y="1408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Hubungan pelanggan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1737360"/>
            <a:ext cx="2121408" cy="1367028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Pendampingan awal (onboarding) ULD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Umpan balik dari antrean tinjauan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0336" y="3214116"/>
            <a:ext cx="2194560" cy="1769364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199" y="32506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Saluran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3579876"/>
            <a:ext cx="2121408" cy="1367028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Aplikasi web untuk ULD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Kemitraan langsung dengan ULD (rencana)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28048" y="1371600"/>
            <a:ext cx="2194560" cy="36118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582912" y="1408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Segmen pelanggan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4624" y="1737360"/>
            <a:ext cx="2121408" cy="3209544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 perguruan tinggi (operator dan peninjau)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Mahasiswa tunanetra (penerima manfaat)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Dosen pembuat materi (pengunggah)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Sekunder: mahasiswa pendengar (hipotesis)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74920"/>
            <a:ext cx="5596128" cy="1024128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2064" y="5111496"/>
            <a:ext cx="5504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Struktur biaya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5440680"/>
            <a:ext cx="5522976" cy="621792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Biaya API VLM per gambar dan komputasi CPU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Pengembangan, pemeliharaan, dan waktu peninjauan staf ULD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074920"/>
            <a:ext cx="5596128" cy="1024128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81344" y="5111496"/>
            <a:ext cx="5504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Sumber pendapatan (hipotesis)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5440680"/>
            <a:ext cx="5522976" cy="621792"/>
          </a:xfrm>
          <a:prstGeom prst="rect">
            <a:avLst/>
          </a:prstGeom>
          <a:noFill/>
        </p:spPr>
        <p:txBody>
          <a:bodyPr wrap="square" lIns="36576" tIns="0" rIns="18288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Hibah atau program inklusivitas perguruan tinggi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2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Layanan berlangganan institusi (belum diuji)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Analisis SWOT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Kelemahan dinyatakan apa adanya: penelitian berada pada tahap kelayakan dan rancangan evaluasi.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97280"/>
            <a:ext cx="5559552" cy="246888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1097280"/>
            <a:ext cx="5559552" cy="3474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Kekuatan (Strengths)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481328"/>
            <a:ext cx="5413248" cy="2057400"/>
          </a:xfrm>
          <a:prstGeom prst="rect">
            <a:avLst/>
          </a:prstGeom>
          <a:noFill/>
        </p:spPr>
        <p:txBody>
          <a:bodyPr wrap="square" lIns="45720" tIns="18288" rIns="45720" bIns="0" anchor="t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Gerbang verifikasi tertutup: keluaran yang tidak dapat diverifikasi ditahan.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 tetap memegang kendali: meninjau, memperbaiki, menyetujui, atau menolak.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grafik berbasis data: tabel data dan statistik yang dihitung kode.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Pembacaan rumus terstruktur: MathML dan MathCAT.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Tidak bergantung pada berkas sumber: bekerja dari PDF.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Setiap elemen terdokumentasi: halaman, posisi, jenis, klaim, hasil pemeriksaan, status.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559552" cy="2468880"/>
          </a:xfrm>
          <a:prstGeom prst="rect">
            <a:avLst/>
          </a:prstGeom>
          <a:solidFill>
            <a:srgbClr val="F4F8FE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097280"/>
            <a:ext cx="5559552" cy="3474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Kelemahan (Weaknesses)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481328"/>
            <a:ext cx="5413248" cy="2057400"/>
          </a:xfrm>
          <a:prstGeom prst="rect">
            <a:avLst/>
          </a:prstGeom>
          <a:noFill/>
        </p:spPr>
        <p:txBody>
          <a:bodyPr wrap="square" lIns="45720" tIns="18288" rIns="45720" bIns="0" anchor="t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Cakupan masukan terbatas: PDF berlapis teks berbahasa Indonesia.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Kinerja akhir belum terbukti: tahap kelayakan dan rancangan evaluasi.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Elemen tertentu masih butuh manusia: foto dan diagram nondata.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Bergantung pada kualitas AI: kesalahan interpretasi tetap mungkin.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Dampak belajar belum terukur.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Belum ada uji pengguna: mahasiswa tunanetra belum terlibat langsung.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559552" cy="2468880"/>
          </a:xfrm>
          <a:prstGeom prst="rect">
            <a:avLst/>
          </a:prstGeom>
          <a:solidFill>
            <a:srgbClr val="DCEFF3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5559552" cy="3474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Peluang (Opportunities)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041648"/>
            <a:ext cx="5413248" cy="2057400"/>
          </a:xfrm>
          <a:prstGeom prst="rect">
            <a:avLst/>
          </a:prstGeom>
          <a:noFill/>
        </p:spPr>
        <p:txBody>
          <a:bodyPr wrap="square" lIns="45720" tIns="18288" rIns="45720" bIns="0" anchor="t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Kebutuhan materi aksesibel di perguruan tinggi (1.727 mahasiswa tunanetra tercatat).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Kesenjangan aksesibilitas digital: teks alternatif, struktur, tabel, grafik, rumus.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Perkembangan AI mempercepat remediasi yang semula manual.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Penguatan peran ULD dengan dukungan teknologi.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Integrasi dengan LMS, repositori, dan sistem pembelajaran.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Fokus materi berbahasa Indonesia yang belum dilayani alat yang ada.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5559552" cy="2468880"/>
          </a:xfrm>
          <a:prstGeom prst="rect">
            <a:avLst/>
          </a:prstGeom>
          <a:solidFill>
            <a:srgbClr val="D6E4FA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72200" y="3657600"/>
            <a:ext cx="5559552" cy="3474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Ancaman (Threats)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041648"/>
            <a:ext cx="5413248" cy="2057400"/>
          </a:xfrm>
          <a:prstGeom prst="rect">
            <a:avLst/>
          </a:prstGeom>
          <a:noFill/>
        </p:spPr>
        <p:txBody>
          <a:bodyPr wrap="square" lIns="45720" tIns="18288" rIns="45720" bIns="0" anchor="t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Alat remediasi PDF otomatis sudah tersedia (Adobe, OpenDataLoader, iTagPDF).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Kesalahan interpretasi AI pada grafik, tabel, atau rumus.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Keamanan data: materi kuliah dapat memuat informasi internal.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Beban kerja ULD bila terlalu banyak keluaran ditinjau.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Ketergantungan pada penyedia AI: perubahan model, API, atau biaya.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3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Lulus pemeriksaan teknis belum menjamin nyaman bagi pembaca layar.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Strategi TOWS: dari Analisis ke Tindakan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Strategi turunan SWOT (Lampiran F.8); dijadwalkan pada peta jalan Lampiran F.13.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1097280"/>
            <a:ext cx="4846320" cy="411480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Peluang (O)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097280"/>
            <a:ext cx="4873752" cy="411480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Ancaman (T)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00200"/>
            <a:ext cx="1371600" cy="2240280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Kekuatan (S)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371600" cy="2194560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Kelemahan (W)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600200"/>
            <a:ext cx="4846320" cy="2240280"/>
          </a:xfrm>
          <a:prstGeom prst="rect">
            <a:avLst/>
          </a:prstGeom>
          <a:solidFill>
            <a:srgbClr val="DCEFF3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165506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SO: memanfaatkan kekuatan untuk peluang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1984248"/>
            <a:ext cx="4700016" cy="1828800"/>
          </a:xfrm>
          <a:prstGeom prst="rect">
            <a:avLst/>
          </a:prstGeom>
          <a:noFill/>
        </p:spPr>
        <p:txBody>
          <a:bodyPr wrap="square" lIns="36576" tIns="18288" rIns="36576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Kemitraan pilot dengan ULD: gerbang fail-closed dan kendali ULD menjawab kebutuhan materi aksesibel.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Jadikan PDF tanpa berkas sumber dan bahasa Indonesia sebagai pembeda pada institusi dengan banyak materi PDF.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Terbitkan data audit dan protokol sebagai bukti kondisi awal.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600200"/>
            <a:ext cx="4873752" cy="2240280"/>
          </a:xfrm>
          <a:prstGeom prst="rect">
            <a:avLst/>
          </a:prstGeom>
          <a:solidFill>
            <a:srgbClr val="D6E4FA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49440" y="1655064"/>
            <a:ext cx="4690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ST: kekuatan untuk menghadapi ancaman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1984248"/>
            <a:ext cx="4727448" cy="1828800"/>
          </a:xfrm>
          <a:prstGeom prst="rect">
            <a:avLst/>
          </a:prstGeom>
          <a:noFill/>
        </p:spPr>
        <p:txBody>
          <a:bodyPr wrap="square" lIns="36576" tIns="18288" rIns="36576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Diferensiasi lewat verifikasi dan konteks akademik Indonesia, bukan lewat akurasi mentah.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Adaptor VLM tak terikat penyedia dengan cadangan model terbuka lokal.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Proses per sesi tanpa penyimpanan; dokumen tidak dipakai melatih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931920"/>
            <a:ext cx="4846320" cy="2194560"/>
          </a:xfrm>
          <a:prstGeom prst="rect">
            <a:avLst/>
          </a:prstGeom>
          <a:solidFill>
            <a:srgbClr val="EAF1FC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011680" y="3986783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WO: menutup kelemahan dengan peluang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3392" y="4315968"/>
            <a:ext cx="4700016" cy="1783080"/>
          </a:xfrm>
          <a:prstGeom prst="rect">
            <a:avLst/>
          </a:prstGeom>
          <a:noFill/>
        </p:spPr>
        <p:txBody>
          <a:bodyPr wrap="square" lIns="36576" tIns="18288" rIns="36576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Perluas cakupan bertahap (PowerPoint dan Word langsung, PDF pindai) mengikuti kemajuan AI.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Uji pengguna G7 bersama ULD mitra untuk mengukur dampak dan kenyamanan pembaca layar.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Libatkan staf ULD sebagai penilai luar pada G6.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931920"/>
            <a:ext cx="4873752" cy="2194560"/>
          </a:xfrm>
          <a:prstGeom prst="rect">
            <a:avLst/>
          </a:prstGeom>
          <a:solidFill>
            <a:srgbClr val="F4F8FE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49440" y="3986783"/>
            <a:ext cx="4690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WT: meminimalkan kelemahan dan ancaman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315968"/>
            <a:ext cx="4727448" cy="1783080"/>
          </a:xfrm>
          <a:prstGeom prst="rect">
            <a:avLst/>
          </a:prstGeom>
          <a:noFill/>
        </p:spPr>
        <p:txBody>
          <a:bodyPr wrap="square" lIns="36576" tIns="18288" rIns="36576" bIns="0" anchor="t">
            <a:spAutoFit/>
          </a:bodyPr>
          <a:lstStyle/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Batasi klaim: tidak mengklaim akurasi di atas alat yang ada; laporkan kegagalan gerbang apa adanya.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Tekan beban ULD lewat ambang gerbang yang dikunci dan pelaporan rasio tinjauan R.</a:t>
            </a:r>
          </a:p>
          <a:p>
            <a:pPr algn="l" marL="146304" indent="-146304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Pemeriksaan singkat dengan NVDA melengkapi veraPDF.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Lima Kekuatan Porter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Skor 1–5: makin tinggi makin besar tekanan kompetitif (penilaian awal tim)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Skor merupakan penilaian awal tim berdasarkan Tabel IV naskah dan bukan hasil survei pasar.</a:t>
            </a:r>
          </a:p>
        </p:txBody>
      </p:sp>
      <p:sp>
        <p:nvSpPr>
          <p:cNvPr id="15" name="Freeform 14"/>
          <p:cNvSpPr/>
          <p:nvPr/>
        </p:nvSpPr>
        <p:spPr>
          <a:xfrm>
            <a:off x="1443206" y="2377440"/>
            <a:ext cx="2782867" cy="2646664"/>
          </a:xfrm>
          <a:custGeom>
            <a:avLst/>
            <a:gdLst/>
            <a:ahLst/>
            <a:cxnLst/>
            <a:rect l="l" t="t" r="r" b="b"/>
            <a:pathLst>
              <a:path w="2782867" h="2646664">
                <a:moveTo>
                  <a:pt x="1391434" y="0"/>
                </a:moveTo>
                <a:lnTo>
                  <a:pt x="2782867" y="1010935"/>
                </a:lnTo>
                <a:lnTo>
                  <a:pt x="2251387" y="2646664"/>
                </a:lnTo>
                <a:lnTo>
                  <a:pt x="531480" y="2646664"/>
                </a:lnTo>
                <a:lnTo>
                  <a:pt x="0" y="1010935"/>
                </a:lnTo>
                <a:close/>
              </a:path>
            </a:pathLst>
          </a:custGeom>
          <a:solidFill>
            <a:srgbClr val="F4F8FE"/>
          </a:solidFill>
          <a:ln w="9525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721493" y="2670048"/>
            <a:ext cx="2226293" cy="2117331"/>
          </a:xfrm>
          <a:custGeom>
            <a:avLst/>
            <a:gdLst/>
            <a:ahLst/>
            <a:cxnLst/>
            <a:rect l="l" t="t" r="r" b="b"/>
            <a:pathLst>
              <a:path w="2226293" h="2117331">
                <a:moveTo>
                  <a:pt x="1113147" y="0"/>
                </a:moveTo>
                <a:lnTo>
                  <a:pt x="2226293" y="808748"/>
                </a:lnTo>
                <a:lnTo>
                  <a:pt x="1801109" y="2117331"/>
                </a:lnTo>
                <a:lnTo>
                  <a:pt x="425184" y="2117331"/>
                </a:lnTo>
                <a:lnTo>
                  <a:pt x="0" y="808748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999779" y="2962656"/>
            <a:ext cx="1669721" cy="1587998"/>
          </a:xfrm>
          <a:custGeom>
            <a:avLst/>
            <a:gdLst/>
            <a:ahLst/>
            <a:cxnLst/>
            <a:rect l="l" t="t" r="r" b="b"/>
            <a:pathLst>
              <a:path w="1669721" h="1587998">
                <a:moveTo>
                  <a:pt x="834861" y="0"/>
                </a:moveTo>
                <a:lnTo>
                  <a:pt x="1669721" y="606561"/>
                </a:lnTo>
                <a:lnTo>
                  <a:pt x="1350833" y="1587998"/>
                </a:lnTo>
                <a:lnTo>
                  <a:pt x="318888" y="1587998"/>
                </a:lnTo>
                <a:lnTo>
                  <a:pt x="0" y="606561"/>
                </a:lnTo>
                <a:close/>
              </a:path>
            </a:pathLst>
          </a:custGeom>
          <a:solidFill>
            <a:srgbClr val="F4F8FE"/>
          </a:solidFill>
          <a:ln w="9525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278066" y="3255264"/>
            <a:ext cx="1113147" cy="1058665"/>
          </a:xfrm>
          <a:custGeom>
            <a:avLst/>
            <a:gdLst/>
            <a:ahLst/>
            <a:cxnLst/>
            <a:rect l="l" t="t" r="r" b="b"/>
            <a:pathLst>
              <a:path w="1113147" h="1058665">
                <a:moveTo>
                  <a:pt x="556574" y="0"/>
                </a:moveTo>
                <a:lnTo>
                  <a:pt x="1113147" y="404374"/>
                </a:lnTo>
                <a:lnTo>
                  <a:pt x="900555" y="1058665"/>
                </a:lnTo>
                <a:lnTo>
                  <a:pt x="212592" y="1058665"/>
                </a:lnTo>
                <a:lnTo>
                  <a:pt x="0" y="40437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556353" y="3547872"/>
            <a:ext cx="556573" cy="529332"/>
          </a:xfrm>
          <a:custGeom>
            <a:avLst/>
            <a:gdLst/>
            <a:ahLst/>
            <a:cxnLst/>
            <a:rect l="l" t="t" r="r" b="b"/>
            <a:pathLst>
              <a:path w="556573" h="529332">
                <a:moveTo>
                  <a:pt x="278287" y="0"/>
                </a:moveTo>
                <a:lnTo>
                  <a:pt x="556573" y="202187"/>
                </a:lnTo>
                <a:lnTo>
                  <a:pt x="450277" y="529332"/>
                </a:lnTo>
                <a:lnTo>
                  <a:pt x="106296" y="529332"/>
                </a:lnTo>
                <a:lnTo>
                  <a:pt x="0" y="202187"/>
                </a:lnTo>
                <a:close/>
              </a:path>
            </a:pathLst>
          </a:custGeom>
          <a:solidFill>
            <a:srgbClr val="F4F8FE"/>
          </a:solidFill>
          <a:ln w="9525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834640" y="2377440"/>
            <a:ext cx="0" cy="146304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34640" y="3388375"/>
            <a:ext cx="1391433" cy="452105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34640" y="3840480"/>
            <a:ext cx="859953" cy="1183624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974686" y="3840480"/>
            <a:ext cx="859954" cy="1183624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443206" y="3388375"/>
            <a:ext cx="1391434" cy="452105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999779" y="2962656"/>
            <a:ext cx="1669721" cy="1824723"/>
          </a:xfrm>
          <a:custGeom>
            <a:avLst/>
            <a:gdLst/>
            <a:ahLst/>
            <a:cxnLst/>
            <a:rect l="l" t="t" r="r" b="b"/>
            <a:pathLst>
              <a:path w="1669721" h="1824723">
                <a:moveTo>
                  <a:pt x="834861" y="0"/>
                </a:moveTo>
                <a:lnTo>
                  <a:pt x="1669721" y="606561"/>
                </a:lnTo>
                <a:lnTo>
                  <a:pt x="1522823" y="1824723"/>
                </a:lnTo>
                <a:lnTo>
                  <a:pt x="146898" y="1824723"/>
                </a:lnTo>
                <a:lnTo>
                  <a:pt x="0" y="606561"/>
                </a:lnTo>
                <a:close/>
              </a:path>
            </a:pathLst>
          </a:custGeom>
          <a:solidFill>
            <a:srgbClr val="24839D">
              <a:alpha val="35000"/>
            </a:srgbClr>
          </a:solidFill>
          <a:ln w="28575">
            <a:solidFill>
              <a:srgbClr val="248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208483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Ancaman pendatang baru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185769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Daya tawar pemasok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0985" y="497982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Daya tawar pembeli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" y="497982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Persaingan antarpemain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3185769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Ancaman substitusi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417320"/>
            <a:ext cx="2103120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Ancaman pendatang baru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1417320"/>
            <a:ext cx="685800" cy="713232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7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3/5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1417320"/>
            <a:ext cx="3364992" cy="71323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AI mudah diakses, tetapi verifikasi, akurasi, dan integrasi alur ULD meningkatkan hambatan masuk.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203704"/>
            <a:ext cx="2103120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Daya tawar pemasok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2203704"/>
            <a:ext cx="685800" cy="713232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7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3/5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2203704"/>
            <a:ext cx="3364992" cy="71323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Ketergantungan pada model AI, perangkat lunak PDF, dan teknologi pembacaan rumus memengaruhi biaya dan kapabilitas.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990088"/>
            <a:ext cx="2103120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Daya tawar pembeli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2990088"/>
            <a:ext cx="685800" cy="71323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4/5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2990088"/>
            <a:ext cx="3364992" cy="71323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Institusi dan ULD punya alternatif remediasi manual maupun otomatis, sehingga menuntut akurasi, keamanan, dan kemudahan tinggi.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776472"/>
            <a:ext cx="2103120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Persaingan antarpemain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3776472"/>
            <a:ext cx="685800" cy="71323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3776472"/>
            <a:ext cx="3364992" cy="71323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Tersedia remediasi manual, auto-tag, dan pembaca layar, tetapi belum tentu memadukan seluruh fungsi SIMAK.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562856"/>
            <a:ext cx="2103120" cy="71323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Ancaman substitusi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562856"/>
            <a:ext cx="685800" cy="713232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7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3/5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4562856"/>
            <a:ext cx="3364992" cy="713232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Solusi aksesibilitas PDF, AI, dan teknologi bantu lain dapat menggantikan sebagian fungsi.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5440680"/>
            <a:ext cx="6245352" cy="64008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Implikasi: </a:t>
            </a:r>
            <a:r>
              <a:rPr sz="120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diferensiasi dibangun melalui verifikasi dan konteks akademik Indonesia; SIMAK tidak bersaing pada akurasi mentah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Analisis PESTEL: Lingkungan Eksternal SIMAK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Sumber: UU 8/2016; Permendikbudristek 48/2023; PDDikti via detikEdu; Tempo.co; CharXiv; SEA-Vision; Databoks/We Are Social; uji awal penulis.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51560"/>
            <a:ext cx="1737360" cy="310896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Faktor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051560"/>
            <a:ext cx="5577840" cy="310896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Kondisi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051560"/>
            <a:ext cx="3867912" cy="310896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Implikasi bagi SIMAK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1554480"/>
            <a:ext cx="457200" cy="457200"/>
          </a:xfrm>
          <a:prstGeom prst="ellipse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1417320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Politik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1417320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UU 8/2016 dan Permendikbudristek 48/2023 mewajibkan akomodasi yang layak dan pembentukan ULD di perguruan tinggi.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417320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Permintaan berbasis kewajiban, bukan sekadar pilihan; ULD menjadi operator yang alami.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" y="2340864"/>
            <a:ext cx="457200" cy="457200"/>
          </a:xfrm>
          <a:prstGeom prst="ellipse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2203704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Ekonomi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203704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Produksi materi aksesibel, misalnya buku braille, terkendala biaya dan bertumpu pada tenaga manusia.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203704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Otomasi terverifikasi menekan beban; biaya utama adalah API VLM (diukur 1–3 Okt), infrastruktur cukup CPU.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" y="3127248"/>
            <a:ext cx="457200" cy="457200"/>
          </a:xfrm>
          <a:prstGeom prst="ellipse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2990088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Sosial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2990088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3.128 mahasiswa disabilitas di 282 perguruan tinggi; tunanetra 1.727 (terbesar). Podcast didengar 42,6% pengguna internet tiap pekan.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990088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Kebutuhan nyata bagi pengguna utama; kebiasaan mendengar memberi hipotesis manfaat bagi mahasiswa pendengar.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3913632"/>
            <a:ext cx="457200" cy="457200"/>
          </a:xfrm>
          <a:prstGeom prst="ellipse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3776472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Teknologi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3776472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VLM berkembang tetapi tidak andal (GPT-4o 47,1% pada grafik ilmiah; 43,61% pada tanya-jawab visual berbahasa Indonesia). Komponen kode terbuka tersedia.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776472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Verifikasi menjadi pembeda; perakitan memanfaatkan OpenDataLoader, veraPDF, dan MathCAT.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4700016"/>
            <a:ext cx="457200" cy="457200"/>
          </a:xfrm>
          <a:prstGeom prst="ellipse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4562856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Lingkungan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4562856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Distribusi materi digital yang aksesibel berpotensi mengurangi kebutuhan cetak dan produksi braille (belum diukur).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562856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Sistem berjalan tanpa GPU (uji awal: 21 halaman, 4,6 detik); dampak lingkungan tidak diklaim.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5486400"/>
            <a:ext cx="457200" cy="457200"/>
          </a:xfrm>
          <a:prstGeom prst="ellipse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5349240"/>
            <a:ext cx="1188720" cy="731520"/>
          </a:xfrm>
          <a:prstGeom prst="rect">
            <a:avLst/>
          </a:prstGeom>
          <a:solidFill>
            <a:srgbClr val="D6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" rIns="36576" bIns="18288"/>
          <a:lstStyle/>
          <a:p>
            <a:pPr algn="ctr"/>
            <a:r>
              <a:rPr sz="12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Hukum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5349240"/>
            <a:ext cx="5577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Hak cipta dan kerahasiaan materi dosen; WCAG 2.2 dan PDF/UA sebagai acuan teknis aksesibilitas.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5349240"/>
            <a:ext cx="3867912" cy="731520"/>
          </a:xfrm>
          <a:prstGeom prst="rect">
            <a:avLst/>
          </a:prstGeom>
          <a:solidFill>
            <a:srgbClr val="D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Dokumen diproses per sesi tanpa disimpan, tidak dipakai melatih model; kepatuhan diukur dengan veraPDF.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Analisis Risiko dan Mitigasi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Penilaian dampak dan probabilitas adalah penilaian awal tim. Rujukan gerbang G1–G7 pada Tabel VII naskah; R = rasio beban tinjauan (Pers. 10).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1600200"/>
            <a:ext cx="1188720" cy="1371600"/>
          </a:xfrm>
          <a:prstGeom prst="rect">
            <a:avLst/>
          </a:prstGeom>
          <a:solidFill>
            <a:srgbClr val="5CA1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240280" y="1600200"/>
            <a:ext cx="1188720" cy="1371600"/>
          </a:xfrm>
          <a:prstGeom prst="rect">
            <a:avLst/>
          </a:prstGeom>
          <a:solidFill>
            <a:srgbClr val="113B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29000" y="1600200"/>
            <a:ext cx="1188720" cy="1371600"/>
          </a:xfrm>
          <a:prstGeom prst="rect">
            <a:avLst/>
          </a:prstGeom>
          <a:solidFill>
            <a:srgbClr val="031A4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51560" y="2971800"/>
            <a:ext cx="1188720" cy="1371600"/>
          </a:xfrm>
          <a:prstGeom prst="rect">
            <a:avLst/>
          </a:prstGeom>
          <a:solidFill>
            <a:srgbClr val="B5CDF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240280" y="2971800"/>
            <a:ext cx="1188720" cy="1371600"/>
          </a:xfrm>
          <a:prstGeom prst="rect">
            <a:avLst/>
          </a:prstGeom>
          <a:solidFill>
            <a:srgbClr val="5CA1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429000" y="2971800"/>
            <a:ext cx="1188720" cy="1371600"/>
          </a:xfrm>
          <a:prstGeom prst="rect">
            <a:avLst/>
          </a:prstGeom>
          <a:solidFill>
            <a:srgbClr val="113B8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51560" y="4343400"/>
            <a:ext cx="1188720" cy="1371600"/>
          </a:xfrm>
          <a:prstGeom prst="rect">
            <a:avLst/>
          </a:prstGeom>
          <a:solidFill>
            <a:srgbClr val="D6E4F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240280" y="4343400"/>
            <a:ext cx="1188720" cy="1371600"/>
          </a:xfrm>
          <a:prstGeom prst="rect">
            <a:avLst/>
          </a:prstGeom>
          <a:solidFill>
            <a:srgbClr val="B5CDF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429000" y="4343400"/>
            <a:ext cx="1188720" cy="1371600"/>
          </a:xfrm>
          <a:prstGeom prst="rect">
            <a:avLst/>
          </a:prstGeom>
          <a:solidFill>
            <a:srgbClr val="5CA1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5742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Rendah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42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742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Tinggi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600200"/>
            <a:ext cx="5943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Tinggi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5943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Sedang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5943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Rendah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89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Probabilitas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298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↑ Dampak</a:t>
            </a:r>
          </a:p>
        </p:txBody>
      </p:sp>
      <p:sp>
        <p:nvSpPr>
          <p:cNvPr id="31" name="Oval 30"/>
          <p:cNvSpPr/>
          <p:nvPr/>
        </p:nvSpPr>
        <p:spPr>
          <a:xfrm>
            <a:off x="3831336" y="20939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2642616" y="20939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3602736" y="34655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4059936" y="34655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2414016" y="34655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2871216" y="34655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37" name="Oval 36"/>
          <p:cNvSpPr/>
          <p:nvPr/>
        </p:nvSpPr>
        <p:spPr>
          <a:xfrm>
            <a:off x="1453895" y="209397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3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 i="0">
                <a:solidFill>
                  <a:srgbClr val="031A48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1097280"/>
            <a:ext cx="457200" cy="310896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1097280"/>
            <a:ext cx="2834640" cy="310896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Risiko (dampak / probabilitas)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1097280"/>
            <a:ext cx="3456432" cy="310896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Mitigasi</a:t>
            </a:r>
          </a:p>
        </p:txBody>
      </p:sp>
      <p:sp>
        <p:nvSpPr>
          <p:cNvPr id="41" name="Oval 40"/>
          <p:cNvSpPr/>
          <p:nvPr/>
        </p:nvSpPr>
        <p:spPr>
          <a:xfrm>
            <a:off x="4937759" y="1591056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1463040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Kesalahan interpretasi AI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(Tinggi / Tinggi)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Deskripsi grafik atau rumus tidak sesuai sumber.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1463040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Gerbang fail-closed; klaim diperiksa terhadap tabel data (Pers. 5); penanda “dihasilkan otomatis”.</a:t>
            </a:r>
          </a:p>
        </p:txBody>
      </p:sp>
      <p:sp>
        <p:nvSpPr>
          <p:cNvPr id="44" name="Oval 43"/>
          <p:cNvSpPr/>
          <p:nvPr/>
        </p:nvSpPr>
        <p:spPr>
          <a:xfrm>
            <a:off x="4937759" y="2258568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2130552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Lolos validator, salah makna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(Tinggi / Sedang)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Struktur benar, isi keliru.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2130552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G1 mengecualikan teks pengisi; G4 rasio informasi; pemeriksaan NVDA pada G6.</a:t>
            </a:r>
          </a:p>
        </p:txBody>
      </p:sp>
      <p:sp>
        <p:nvSpPr>
          <p:cNvPr id="47" name="Oval 46"/>
          <p:cNvSpPr/>
          <p:nvPr/>
        </p:nvSpPr>
        <p:spPr>
          <a:xfrm>
            <a:off x="4937759" y="2926079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2798064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Beban tinjauan ULD berlebih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(Sedang / Tinggi)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Terlalu banyak elemen ditahan.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2798064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Laporkan R (G6); ambang gerbang dikunci; antrean berurutan menurut jenis elemen.</a:t>
            </a:r>
          </a:p>
        </p:txBody>
      </p:sp>
      <p:sp>
        <p:nvSpPr>
          <p:cNvPr id="50" name="Oval 49"/>
          <p:cNvSpPr/>
          <p:nvPr/>
        </p:nvSpPr>
        <p:spPr>
          <a:xfrm>
            <a:off x="4937759" y="3593591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3465576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Dokumen nyata lebih berantakan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(Sedang / Tinggi)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Materi asli tidak serapi data sintetis.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465576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G6 pada 60 dokumen nyata dari sampel acak bingkai publik; jalur cadangan HTML aksesibel.</a:t>
            </a:r>
          </a:p>
        </p:txBody>
      </p:sp>
      <p:sp>
        <p:nvSpPr>
          <p:cNvPr id="53" name="Oval 52"/>
          <p:cNvSpPr/>
          <p:nvPr/>
        </p:nvSpPr>
        <p:spPr>
          <a:xfrm>
            <a:off x="4937759" y="4261103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4133087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Ketergantungan penyedia VLM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(Sedang / Sedang)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Perubahan API, biaya, layanan.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4133087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Adaptor tak terikat penyedia; model terbuka lokal; hasil demo disimpan (cache).</a:t>
            </a:r>
          </a:p>
        </p:txBody>
      </p:sp>
      <p:sp>
        <p:nvSpPr>
          <p:cNvPr id="56" name="Oval 55"/>
          <p:cNvSpPr/>
          <p:nvPr/>
        </p:nvSpPr>
        <p:spPr>
          <a:xfrm>
            <a:off x="4937759" y="4928616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4800600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Hak cipta dan kerahasiaan materi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(Tinggi / Rendah)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Materi dosen dapat memuat informasi internal.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4800600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Proses per sesi tanpa penyimpanan; tidak dipakai melatih model; opsi model lokal.</a:t>
            </a:r>
          </a:p>
        </p:txBody>
      </p:sp>
      <p:sp>
        <p:nvSpPr>
          <p:cNvPr id="59" name="Oval 58"/>
          <p:cNvSpPr/>
          <p:nvPr/>
        </p:nvSpPr>
        <p:spPr>
          <a:xfrm>
            <a:off x="4937759" y="5596128"/>
            <a:ext cx="365760" cy="365760"/>
          </a:xfrm>
          <a:prstGeom prst="ellipse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5468112"/>
            <a:ext cx="2834640" cy="621792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15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Adopsi rendah</a:t>
            </a:r>
            <a:r>
              <a:rPr sz="95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  (Sedang / Sedang)</a:t>
            </a:r>
          </a:p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ULD atau dosen enggan mengubah alur.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5468112"/>
            <a:ext cx="34564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54864" bIns="18288"/>
          <a:lstStyle/>
          <a:p>
            <a:pPr algn="l"/>
            <a:r>
              <a:rPr sz="10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Dosen tidak perlu mengubah alur (PDF apa adanya); pilot dan onboarding ULD.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0814" cy="118872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741670" y="0"/>
            <a:ext cx="1750814" cy="118872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83341" y="0"/>
            <a:ext cx="1750814" cy="118872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25012" y="0"/>
            <a:ext cx="1750814" cy="118872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66682" y="0"/>
            <a:ext cx="1750814" cy="118872"/>
          </a:xfrm>
          <a:prstGeom prst="rect">
            <a:avLst/>
          </a:prstGeom>
          <a:solidFill>
            <a:srgbClr val="46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8353" y="0"/>
            <a:ext cx="1750814" cy="118872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450024" y="0"/>
            <a:ext cx="1750814" cy="118872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37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4839D"/>
                </a:solidFill>
                <a:latin typeface="Times New Roman"/>
                <a:ea typeface="Times New Roman"/>
                <a:cs typeface="Times New Roman"/>
              </a:rPr>
              <a:t>LAMPIRAN F.13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2E63"/>
                </a:solidFill>
                <a:latin typeface="Times New Roman"/>
                <a:ea typeface="Times New Roman"/>
                <a:cs typeface="Times New Roman"/>
              </a:rPr>
              <a:t>Peta Jalan: dari Bukti Awal ke Pilot dan Perluasan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9525">
            <a:solidFill>
              <a:srgbClr val="B9C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0138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SIMAK · Innovation Case Competition, Campus Data Week 2026 · Tim IRIS kata HQ ini lomba terakhir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4A5D82"/>
                </a:solidFill>
                <a:latin typeface="Times New Roman"/>
                <a:ea typeface="Times New Roman"/>
                <a:cs typeface="Times New Roman"/>
              </a:rPr>
              <a:t>Jadwal hingga Oktober 2026 mengikuti rencana kerja naskah; tahap setelahnya adalah rencana lanjutan yang belum berkomitmen.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3664" y="1097280"/>
            <a:ext cx="2432304" cy="566928"/>
          </a:xfrm>
          <a:prstGeom prst="rect">
            <a:avLst/>
          </a:prstGeom>
          <a:solidFill>
            <a:srgbClr val="0B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Sep 2026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Semifinal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097280"/>
            <a:ext cx="2432304" cy="566928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Okt 2026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Final dan MVP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03136" y="1097280"/>
            <a:ext cx="2432304" cy="566928"/>
          </a:xfrm>
          <a:prstGeom prst="rect">
            <a:avLst/>
          </a:prstGeom>
          <a:solidFill>
            <a:srgbClr val="277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Nov 2026 – Q1 2027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Pilot bersama ULD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62872" y="1097280"/>
            <a:ext cx="2432304" cy="566928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2027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Perluasan (rencana)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55648"/>
            <a:ext cx="1371600" cy="1005840"/>
          </a:xfrm>
          <a:prstGeom prst="rect">
            <a:avLst/>
          </a:prstGeom>
          <a:solidFill>
            <a:srgbClr val="03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Pembuktian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83664" y="1755648"/>
            <a:ext cx="2432304" cy="1005840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20240" y="179222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Audit awal 28 PDF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Uji kelayakan 3 dokumen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Kueri bingkai publik diuji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755648"/>
            <a:ext cx="2432304" cy="1005840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79976" y="179222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1–3 Okt: audit skala besar (600 PDF acak)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20–22 Okt: evaluasi G1, G3, G4, G6 pada set uji tertahan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03136" y="1755648"/>
            <a:ext cx="2432304" cy="1005840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39712" y="179222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Uji pengguna G7 bersama ULD dan mahasiswa tunanetra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2872" y="1755648"/>
            <a:ext cx="2432304" cy="1005840"/>
          </a:xfrm>
          <a:prstGeom prst="rect">
            <a:avLst/>
          </a:prstGeom>
          <a:solidFill>
            <a:srgbClr val="D6E4FA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99448" y="179222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Publikasi hasil; audit dokumen lebih luas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807208"/>
            <a:ext cx="1371600" cy="1005840"/>
          </a:xfrm>
          <a:prstGeom prst="rect">
            <a:avLst/>
          </a:prstGeom>
          <a:solidFill>
            <a:srgbClr val="113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Pipeline dan modul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83664" y="2807208"/>
            <a:ext cx="2432304" cy="1005840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920240" y="284378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Arsitektur dan adaptor VLM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2807208"/>
            <a:ext cx="2432304" cy="1005840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379976" y="284378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1–3 Okt: uji penentu VLM dan veraPDF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4–9 Okt: perakitan dan aturan tambal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10–15 Okt: modul grafik dan kalibrasi gerbang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03136" y="2807208"/>
            <a:ext cx="2432304" cy="1005840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39712" y="284378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Modul rumus (UniMERNet, MathCAT)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Mode dengar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62872" y="2807208"/>
            <a:ext cx="2432304" cy="1005840"/>
          </a:xfrm>
          <a:prstGeom prst="rect">
            <a:avLst/>
          </a:prstGeom>
          <a:solidFill>
            <a:srgbClr val="EAF1FC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99448" y="284378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PowerPoint dan Word langsung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PDF pindai (OCR); braille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58768"/>
            <a:ext cx="1371600" cy="1005840"/>
          </a:xfrm>
          <a:prstGeom prst="rect">
            <a:avLst/>
          </a:prstGeom>
          <a:solidFill>
            <a:srgbClr val="1C5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Pengguna dan ULD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83664" y="3858768"/>
            <a:ext cx="2432304" cy="1005840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920240" y="389534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Profil pengguna dan peran ULD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858768"/>
            <a:ext cx="2432304" cy="1005840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79976" y="389534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16–19 Okt: antarmuka tinjauan ULD dan audit dokumen nyata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03136" y="3858768"/>
            <a:ext cx="2432304" cy="1005840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39712" y="389534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Onboarding ULD mitra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Ukur beban tinjauan 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2872" y="3858768"/>
            <a:ext cx="2432304" cy="1005840"/>
          </a:xfrm>
          <a:prstGeom prst="rect">
            <a:avLst/>
          </a:prstGeom>
          <a:solidFill>
            <a:srgbClr val="F4F8FE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299448" y="389534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Pelatihan staf ULD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10328"/>
            <a:ext cx="1371600" cy="1005840"/>
          </a:xfrm>
          <a:prstGeom prst="rect">
            <a:avLst/>
          </a:prstGeom>
          <a:solidFill>
            <a:srgbClr val="248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Kemitraan dan keberlanjutan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83664" y="4910328"/>
            <a:ext cx="2432304" cy="1005840"/>
          </a:xfrm>
          <a:prstGeom prst="rect">
            <a:avLst/>
          </a:prstGeom>
          <a:solidFill>
            <a:srgbClr val="DCEFF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920240" y="494690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Identifikasi mitra ULD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4910328"/>
            <a:ext cx="2432304" cy="1005840"/>
          </a:xfrm>
          <a:prstGeom prst="rect">
            <a:avLst/>
          </a:prstGeom>
          <a:solidFill>
            <a:srgbClr val="DCEFF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379976" y="494690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23 Okt naskah lengkap; 28 Okt demo dan presentasi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03136" y="4910328"/>
            <a:ext cx="2432304" cy="1005840"/>
          </a:xfrm>
          <a:prstGeom prst="rect">
            <a:avLst/>
          </a:prstGeom>
          <a:solidFill>
            <a:srgbClr val="DCEFF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839712" y="494690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Kemitraan ULD dan Mitra Netra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Model VLM lokal sebagai cadangan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62872" y="4910328"/>
            <a:ext cx="2432304" cy="1005840"/>
          </a:xfrm>
          <a:prstGeom prst="rect">
            <a:avLst/>
          </a:prstGeom>
          <a:solidFill>
            <a:srgbClr val="DCEFF3"/>
          </a:solidFill>
          <a:ln w="6350">
            <a:solidFill>
              <a:srgbClr val="B9C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299448" y="4946904"/>
            <a:ext cx="2359152" cy="950976"/>
          </a:xfrm>
          <a:prstGeom prst="rect">
            <a:avLst/>
          </a:prstGeom>
          <a:noFill/>
        </p:spPr>
        <p:txBody>
          <a:bodyPr wrap="square" lIns="36576" tIns="18288" rIns="27432" bIns="0" anchor="t">
            <a:spAutoFit/>
          </a:bodyPr>
          <a:lstStyle/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Integrasi LMS dan repositori</a:t>
            </a:r>
          </a:p>
          <a:p>
            <a:pPr algn="l" marL="118872" indent="-118872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0B1F4D"/>
                </a:solidFill>
                <a:latin typeface="Times New Roman"/>
                <a:ea typeface="Times New Roman"/>
                <a:cs typeface="Times New Roman"/>
              </a:rPr>
              <a:t>Model layanan institusi (hipotesis)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